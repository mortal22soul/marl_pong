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223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82238"/>
                </a:solidFill>
                <a:latin typeface="Arial"/>
              </a:rPr>
              <a:t>Win rates, 60 greedy episodes per opponent (the rest are draws)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Team A win</c:v>
                </c:pt>
              </c:strCache>
            </c:strRef>
          </c:tx>
          <c:spPr>
            <a:solidFill>
              <a:srgbClr val="2B7F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vs random</c:v>
                  </c:pt>
                  <c:pt idx="1">
                    <c:v>vs reactive tracker</c:v>
                  </c:pt>
                  <c:pt idx="2">
                    <c:v>vs self-play</c:v>
                  </c:pt>
                  <c:pt idx="3">
                    <c:v>vs predictive tracker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0.63</c:v>
                </c:pt>
                <c:pt idx="2">
                  <c:v>0.53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Team B win</c:v>
                </c:pt>
              </c:strCache>
            </c:strRef>
          </c:tx>
          <c:spPr>
            <a:solidFill>
              <a:srgbClr val="E85D3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vs random</c:v>
                  </c:pt>
                  <c:pt idx="1">
                    <c:v>vs reactive tracker</c:v>
                  </c:pt>
                  <c:pt idx="2">
                    <c:v>vs self-play</c:v>
                  </c:pt>
                  <c:pt idx="3">
                    <c:v>vs predictive tracker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0.07</c:v>
                </c:pt>
                <c:pt idx="2">
                  <c:v>0.03</c:v>
                </c:pt>
                <c:pt idx="3">
                  <c:v>0.13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22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77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5B677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223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82238"/>
                </a:solidFill>
                <a:latin typeface="Arial"/>
              </a:rPr>
              <a:t>Team A win rate, same configuration, growing budget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vs random</c:v>
                </c:pt>
              </c:strCache>
            </c:strRef>
          </c:tx>
          <c:spPr>
            <a:solidFill>
              <a:srgbClr val="8B98B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1M (1 seed)</c:v>
                  </c:pt>
                  <c:pt idx="1">
                    <c:v>3M (3-seed mean)</c:v>
                  </c:pt>
                  <c:pt idx="2">
                    <c:v>5M (s1_5M)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</c:v>
                </c:pt>
                <c:pt idx="1">
                  <c:v>0.98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vs reactive tracker</c:v>
                </c:pt>
              </c:strCache>
            </c:strRef>
          </c:tx>
          <c:spPr>
            <a:solidFill>
              <a:srgbClr val="2B7F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1M (1 seed)</c:v>
                  </c:pt>
                  <c:pt idx="1">
                    <c:v>3M (3-seed mean)</c:v>
                  </c:pt>
                  <c:pt idx="2">
                    <c:v>5M (s1_5M)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0.24</c:v>
                </c:pt>
                <c:pt idx="2">
                  <c:v>0.63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22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77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5B677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question, then play the footage (results/videos/). Frame: can teammates coordinate with only local state, teammate state, and a shared win/lose signal? Li et al. 2025 supplies the framing: non-stationarity and credit assignment. The clips use seeds where points are scored; they illustrate, the tables are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design constraint: excluding opponent observations is deliberate; it keeps the research question about local+teammate coordination. Overlapping teammates resolve a contact by closest paddle, so neither has a built-in priority in the shared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MLflow/SB3 deviations: custom PPO was TASK.md option (b); CSV logs replace MLflow. Be upfront that the showcased run is one seed selected from several candidates; slide 8 shows the cross-seed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Non-stationarity from Li et al. shown, not just cited: each team's improvement is the other team's environment change. This run does settle, with team A 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Calibrated honesty: real skill (perfect vs random, majority vs the reactive tracker), but a projected-intercept controller still defends better. Self-play is lopsided: A 0.53, B 0.03.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occupancy structure is clear, but occupancy alone is not coordination; the next slide shows who actually returns the ball 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functional evidence: both paddles can reach the middle band, and the team allocates it unevenly but consistently across all four evaluation opponents. Discount the outer bands; geometry decides those.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explicit: s1_5M is the best observed run, selected after comparison. The 3-seed 3M run is the honest cross-seed estimate; the trend with budget is the robust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verdict sentence, then stop. This is the slide to linger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future work: more seeds at 5M first, then the frozen-opponent condition. Offer the repo for anyone who wants to rerun the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PROJECT · MULTI-AGENT REINFORCEMENT LEARNING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2588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Emergent Coordination in 2v2 Pong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7889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PPO agents · one shared team reward · no communication, no role assignment, no opponent observations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834640" y="3931920"/>
            <a:ext cx="649224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4041648"/>
            <a:ext cx="0" cy="1792224"/>
          </a:xfrm>
          <a:prstGeom prst="line">
            <a:avLst/>
          </a:prstGeom>
          <a:noFill/>
          <a:ln w="12700">
            <a:solidFill>
              <a:srgbClr val="D8DEE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159252" y="4213555"/>
            <a:ext cx="41148" cy="683971"/>
          </a:xfrm>
          <a:prstGeom prst="roundRect">
            <a:avLst>
              <a:gd name="adj" fmla="val 44444"/>
            </a:avLst>
          </a:prstGeom>
          <a:solidFill>
            <a:srgbClr val="2B7FFF"/>
          </a:solidFill>
          <a:ln/>
        </p:spPr>
      </p:sp>
      <p:sp>
        <p:nvSpPr>
          <p:cNvPr id="8" name="Shape 6"/>
          <p:cNvSpPr/>
          <p:nvPr/>
        </p:nvSpPr>
        <p:spPr>
          <a:xfrm>
            <a:off x="3159252" y="4977994"/>
            <a:ext cx="41148" cy="683971"/>
          </a:xfrm>
          <a:prstGeom prst="roundRect">
            <a:avLst>
              <a:gd name="adj" fmla="val 44444"/>
            </a:avLst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0" y="4213555"/>
            <a:ext cx="41148" cy="683971"/>
          </a:xfrm>
          <a:prstGeom prst="roundRect">
            <a:avLst>
              <a:gd name="adj" fmla="val 44444"/>
            </a:avLst>
          </a:prstGeom>
          <a:solidFill>
            <a:srgbClr val="E85D3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0" y="4977994"/>
            <a:ext cx="41148" cy="683971"/>
          </a:xfrm>
          <a:prstGeom prst="roundRect">
            <a:avLst>
              <a:gd name="adj" fmla="val 44444"/>
            </a:avLst>
          </a:prstGeom>
          <a:solidFill>
            <a:srgbClr val="C24C38"/>
          </a:solidFill>
          <a:ln/>
        </p:spPr>
      </p:sp>
      <p:sp>
        <p:nvSpPr>
          <p:cNvPr id="11" name="Shape 9"/>
          <p:cNvSpPr/>
          <p:nvPr/>
        </p:nvSpPr>
        <p:spPr>
          <a:xfrm>
            <a:off x="5561381" y="4897526"/>
            <a:ext cx="82296" cy="82296"/>
          </a:xfrm>
          <a:prstGeom prst="ellipse">
            <a:avLst/>
          </a:prstGeom>
          <a:solidFill>
            <a:srgbClr val="1C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5989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+ A2 (blue, left)  vs  B1 + B2 (red, right)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run s1_5M: 5M self-play steps, seed 0 · 60-episode deterministic eval per opponent · report/report.md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without communication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949440" y="1600200"/>
            <a:ext cx="4754880" cy="2651760"/>
          </a:xfrm>
          <a:prstGeom prst="roundRect">
            <a:avLst>
              <a:gd name="adj" fmla="val 2069"/>
            </a:avLst>
          </a:prstGeom>
          <a:solidFill>
            <a:srgbClr val="F5F7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0" y="1709928"/>
            <a:ext cx="0" cy="2432304"/>
          </a:xfrm>
          <a:prstGeom prst="line">
            <a:avLst/>
          </a:prstGeom>
          <a:noFill/>
          <a:ln w="12700">
            <a:solidFill>
              <a:srgbClr val="D8DEE9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949440" y="2395728"/>
            <a:ext cx="4754880" cy="1060704"/>
          </a:xfrm>
          <a:prstGeom prst="rect">
            <a:avLst/>
          </a:prstGeom>
          <a:solidFill>
            <a:srgbClr val="2B7FFF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187184" y="1971446"/>
            <a:ext cx="41148" cy="901598"/>
          </a:xfrm>
          <a:prstGeom prst="roundRect">
            <a:avLst>
              <a:gd name="adj" fmla="val 44444"/>
            </a:avLst>
          </a:prstGeom>
          <a:solidFill>
            <a:srgbClr val="2B7FFF"/>
          </a:solidFill>
          <a:ln/>
        </p:spPr>
      </p:sp>
      <p:sp>
        <p:nvSpPr>
          <p:cNvPr id="8" name="Shape 6"/>
          <p:cNvSpPr/>
          <p:nvPr/>
        </p:nvSpPr>
        <p:spPr>
          <a:xfrm>
            <a:off x="7187184" y="2979115"/>
            <a:ext cx="41148" cy="901598"/>
          </a:xfrm>
          <a:prstGeom prst="roundRect">
            <a:avLst>
              <a:gd name="adj" fmla="val 44444"/>
            </a:avLst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5428" y="1971446"/>
            <a:ext cx="41148" cy="901598"/>
          </a:xfrm>
          <a:prstGeom prst="roundRect">
            <a:avLst>
              <a:gd name="adj" fmla="val 44444"/>
            </a:avLst>
          </a:prstGeom>
          <a:solidFill>
            <a:srgbClr val="E85D3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25428" y="2979115"/>
            <a:ext cx="41148" cy="901598"/>
          </a:xfrm>
          <a:prstGeom prst="roundRect">
            <a:avLst>
              <a:gd name="adj" fmla="val 44444"/>
            </a:avLst>
          </a:prstGeom>
          <a:solidFill>
            <a:srgbClr val="C24C38"/>
          </a:solidFill>
          <a:ln/>
        </p:spPr>
      </p:sp>
      <p:sp>
        <p:nvSpPr>
          <p:cNvPr id="11" name="Shape 9"/>
          <p:cNvSpPr/>
          <p:nvPr/>
        </p:nvSpPr>
        <p:spPr>
          <a:xfrm>
            <a:off x="8946490" y="2873045"/>
            <a:ext cx="82296" cy="82296"/>
          </a:xfrm>
          <a:prstGeom prst="ellipse">
            <a:avLst/>
          </a:prstGeom>
          <a:solidFill>
            <a:srgbClr val="1C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4297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vertical ranges — nobody owns the middle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16459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8-dim observations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19933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paddle y/vy, ball x/y/vx/vy, teammate y/vy — opponents excluded by design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97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team reward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04495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/ -1 per point, identical signal to both teammates, no hit shaping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49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actions per paddle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" y="40965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/ up / down, applied simultaneously every step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8006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PPO ×4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514807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64×64 actor and critic MLPs per paddle, CPU-only; no shared critic, no parameter sharing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first, then train, then evaluate greedily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paddle overlap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with scripted agents only, before any PPO run (+ ball speed ×1.15)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361188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PPO learners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1188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4096 · 6 epochs · minibatch 512 · λ 0.99 · entropy 0.01→0.001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653796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self-play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0; chosen from a hyperparameter sweep and longer 3-seed runs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17" name="Text 15"/>
          <p:cNvSpPr/>
          <p:nvPr/>
        </p:nvSpPr>
        <p:spPr>
          <a:xfrm>
            <a:off x="946404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6600" dirty="0"/>
          </a:p>
        </p:txBody>
      </p:sp>
      <p:sp>
        <p:nvSpPr>
          <p:cNvPr id="18" name="Text 16"/>
          <p:cNvSpPr/>
          <p:nvPr/>
        </p:nvSpPr>
        <p:spPr>
          <a:xfrm>
            <a:off x="946404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episodes × 4 opponents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6404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play vs self-play, random, reactive and predictive trackers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in this deck comes from the committed checkpoint, log, and eval records — reproducible from the repo.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results/models/s1_5M/run_config.json, results/calibration_v2.json, results/eval_s1_5M*.json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1 · NON-STATIONARITY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opponent is the environment</a:t>
            </a:r>
            <a:endParaRPr lang="en-US" sz="3200" dirty="0"/>
          </a:p>
        </p:txBody>
      </p:sp>
      <p:pic>
        <p:nvPicPr>
          <p:cNvPr id="4" name="Image 0" descr="results/plots/curves_mean_return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309360" cy="36027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257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Self-play team A return (51-iteration rolling mean)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1737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Collapse, recover, settle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223760" y="25603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 learns to return first: team A's return dives to −3.4 by ~400k steps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 catches up and is positive again by ~1.2M; peaks near +1 at 2.5M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2M steps settle in a +0.3 to +0.5 band — stable, but not symmetric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results/logs/s1_5M.csv — per-iteration returns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2 · SKILL CALIBRATION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the reactive tracker, not the predictive one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920240"/>
            <a:ext cx="3840480" cy="1554480"/>
          </a:xfrm>
          <a:prstGeom prst="roundRect">
            <a:avLst>
              <a:gd name="adj" fmla="val 4706"/>
            </a:avLst>
          </a:prstGeom>
          <a:solidFill>
            <a:srgbClr val="EEF4FE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092440" y="26974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rate vs the reactive scripted tracker (0.07 losses), +0.68 points per game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63840" y="37490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Tracker games all hit the 2000-step cap: wins are low-scoring leads, not first-to-5. The predictive tracker is unbeaten — 87% scoreless draws.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results/summary.md, results/eval_s1_5M*.json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 · COORDINATION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guard the middle, each sweeps its side</a:t>
            </a:r>
            <a:endParaRPr lang="en-US" sz="3200" dirty="0"/>
          </a:p>
        </p:txBody>
      </p:sp>
      <p:pic>
        <p:nvPicPr>
          <p:cNvPr id="4" name="Image 0" descr="results/plots/coverage_heatma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828800"/>
            <a:ext cx="100584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69848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 y-position over normalized episode time, 60 greedy self-play episodes (+y is down)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554480" y="56235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paddle parks at the inner edge of its range (the shared middle band) and sweeps out toward its own wall. Team B mirrors it. No communication, no role assignment.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results/traj_s1_5M.npz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 ·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primary middle defender emerges</a:t>
            </a:r>
            <a:endParaRPr lang="en-US" sz="3200" dirty="0"/>
          </a:p>
        </p:txBody>
      </p:sp>
      <p:pic>
        <p:nvPicPr>
          <p:cNvPr id="4" name="Image 0" descr="results/plots/overlap_over_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309360" cy="36027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349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 coverage overlap at checkpoints (short greedy probes)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223760" y="1783080"/>
            <a:ext cx="4572000" cy="1600200"/>
          </a:xfrm>
          <a:prstGeom prst="roundRect">
            <a:avLst>
              <a:gd name="adj" fmla="val 4571"/>
            </a:avLst>
          </a:prstGeom>
          <a:solidFill>
            <a:srgbClr val="EEF4FE"/>
          </a:solidFill>
          <a:ln/>
        </p:spPr>
      </p:sp>
      <p:sp>
        <p:nvSpPr>
          <p:cNvPr id="7" name="Text 4"/>
          <p:cNvSpPr/>
          <p:nvPr/>
        </p:nvSpPr>
        <p:spPr>
          <a:xfrm>
            <a:off x="7452360" y="19202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~70%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shared-middle returns made by A2 (2.0 vs 0.9 per game), a role nobody assigned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223760" y="3657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Outer-band split (A1 low, A2 high) is forced by the ranges, not evidence by itself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rises 0.04 → 0.3 as both converge on the middle: lower overlap ≠ better coordination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reward, uneven work: A2 takes 57% of team contacts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results/eval_s1_5M.json (behavior.*.contact_region_share), overlap sweep over iter_*.pt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budget, stronger team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run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863840" y="24688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4096 beat rollout 1024, higher entropy, γ 0.999 and lower lr in a 1M sweep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Head-to-head, s1_5M's Team A finishes net-ahead of every other candidate's Team B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3 seeds at 3M the tracker win rate spans 0.12–0.40: seed matters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report/report.md §4.4 — archived comparison runs, same 60-episode protocol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yes.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communication or assigned roles, teammates learn a consistent division of labour (each owns its outer band, one becomes the primary middle defender), and that team beats random play and a reactive tracker. It does not match a predictive hand-written defender, and it rests on one showcased seed.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primary middle defender (A2, ~70% of shared-band returns) from identical rewards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29768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 vs random, 0.63 vs the reactive tracker over 60 greedy games each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3816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13816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tracker unbeaten (87% draws); single-seed showcase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NEXT STEPS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evidence cannot yet claim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seed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840480" y="2468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s1_5M was selected from several runs; train seeds 1–2 at 5M to make it a protocol-grade claim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11274552" cy="0"/>
          </a:xfrm>
          <a:prstGeom prst="line">
            <a:avLst/>
          </a:prstGeom>
          <a:noFill/>
          <a:ln w="9525">
            <a:solidFill>
              <a:srgbClr val="D8DE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Step-capped games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40480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against trackers never reach 5 points; wins are low-scoring leads at the cap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8DE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frozen-opponent run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4572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growth and opponent drift remain entangled; this is the experiment that would separate them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1264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marl-pong — checkpoint, logs, eval records, analysis code, and report/report.md are all committed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Emergent Coordination in 2v2 Pong via Independent PPO</dc:title>
  <dc:subject>PptxGenJS Presentation</dc:subject>
  <dc:creator>Aryan Mehesare</dc:creator>
  <cp:lastModifiedBy>Aryan Mehesare</cp:lastModifiedBy>
  <cp:revision>1</cp:revision>
  <dcterms:created xsi:type="dcterms:W3CDTF">2026-10-08T09:22:10Z</dcterms:created>
  <dcterms:modified xsi:type="dcterms:W3CDTF">2026-10-08T09:22:10Z</dcterms:modified>
</cp:coreProperties>
</file>