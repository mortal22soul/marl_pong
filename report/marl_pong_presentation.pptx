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2238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82238"/>
                </a:solidFill>
                <a:latin typeface="Arial"/>
              </a:rPr>
              <a:t>Team A win rate (blue team), 60 episodes per bar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2v2 @ 1M</c:v>
                </c:pt>
              </c:strCache>
            </c:strRef>
          </c:tx>
          <c:spPr>
            <a:solidFill>
              <a:srgbClr val="50A0F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822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vs random</c:v>
                  </c:pt>
                  <c:pt idx="1">
                    <c:v>vs self-play</c:v>
                  </c:pt>
                  <c:pt idx="2">
                    <c:v>vs scripted tracker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0.68</c:v>
                </c:pt>
                <c:pt idx="1">
                  <c:v>0.43</c:v>
                </c:pt>
                <c:pt idx="2">
                  <c:v>0.02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1v1 @ 300k</c:v>
                </c:pt>
              </c:strCache>
            </c:strRef>
          </c:tx>
          <c:spPr>
            <a:solidFill>
              <a:srgbClr val="8B98B3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822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vs random</c:v>
                  </c:pt>
                  <c:pt idx="1">
                    <c:v>vs self-play</c:v>
                  </c:pt>
                  <c:pt idx="2">
                    <c:v>vs scripted tracker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0.48</c:v>
                </c:pt>
                <c:pt idx="1">
                  <c:v>0.39</c:v>
                </c:pt>
                <c:pt idx="2">
                  <c:v>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822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718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6718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6718A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2238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82238"/>
                </a:solidFill>
                <a:latin typeface="Arial"/>
              </a:rPr>
              <a:t>Self-play win rates, 2v2 @ 1M (60 episodes)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Team A (blue)</c:v>
                </c:pt>
              </c:strCache>
            </c:strRef>
          </c:tx>
          <c:spPr>
            <a:solidFill>
              <a:srgbClr val="50A0F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822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seed 0</c:v>
                  </c:pt>
                  <c:pt idx="1">
                    <c:v>seed 1</c:v>
                  </c:pt>
                  <c:pt idx="2">
                    <c:v>seed 2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0.37</c:v>
                </c:pt>
                <c:pt idx="1">
                  <c:v>0.67</c:v>
                </c:pt>
                <c:pt idx="2">
                  <c:v>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Team B (red)</c:v>
                </c:pt>
              </c:strCache>
            </c:strRef>
          </c:tx>
          <c:spPr>
            <a:solidFill>
              <a:srgbClr val="FF785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822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seed 0</c:v>
                  </c:pt>
                  <c:pt idx="1">
                    <c:v>seed 1</c:v>
                  </c:pt>
                  <c:pt idx="2">
                    <c:v>seed 2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0.58</c:v>
                </c:pt>
                <c:pt idx="1">
                  <c:v>0.08</c:v>
                </c:pt>
                <c:pt idx="2">
                  <c:v>0.7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822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718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6718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6718A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question, then play the footage. Frame: can teammates coordinate with only local state, teammate state, and a shared win/lose signal? Li et al. 2025 supplies the framing: non-stationarity and credit assignment.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the design constraint: excluding opponent observations is deliberate — it keeps the research question about local+teammate coordination. The overlap band is where both teammates can roam; no fixed regions are assigned.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about MLflow/SB3 deviations: custom PPO was TASK.md option (b); CSV logs replace MLflow; both documented in report section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non-stationarity challenge from Li et al. demonstrated, not just cited. Nobody converged; the optimization target keeps moving. Present the decline at the end honestly: an arms race, not undertraining.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Calibrated honesty: PPO learned something real (0.68 vs random) but far from scripted-perfect. The spread matters: one seed wins ~90%, another ~50%. Do not oversell.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centerpiece: the actual research question answered visually. Structure is unambiguous in the heatmaps. Seeds 1 and 2 show different partitions — the deck's next slides quantify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metric went the 'wrong' way and that is the interesting part: rising overlap reflects vigorous shared chasing on top of stable home bands. Presenting this honestly beats pretending it trended down.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explains the footage: the recorded clip shows blue winning 4-1, but across 60 episodes red wins that seed 0.58-0.37. One match is anecdote; the table is the finding. Seed 1 is where blue genuinely dominates.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verdict sentence exactly like this, then stop. This is the slide to linger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future work: frozen-opponent condition first, then more seeds. Offer the repo for anyone who wants to rerun the eval.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50A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 PROJECT · MULTI-AGENT REINFORCEMENT LEARNING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325880"/>
            <a:ext cx="112745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EE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Emergent Coordination in 2v2 Pong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278892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F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independent PPO agents · one shared team reward · no communication, no role assignment, no opponent observations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834640" y="3931920"/>
            <a:ext cx="6492240" cy="2011680"/>
          </a:xfrm>
          <a:prstGeom prst="roundRect">
            <a:avLst>
              <a:gd name="adj" fmla="val 2727"/>
            </a:avLst>
          </a:prstGeom>
          <a:solidFill>
            <a:srgbClr val="111A30"/>
          </a:solidFill>
          <a:ln w="12700">
            <a:solidFill>
              <a:srgbClr val="2A3A5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80760" y="4041648"/>
            <a:ext cx="0" cy="1792224"/>
          </a:xfrm>
          <a:prstGeom prst="line">
            <a:avLst/>
          </a:prstGeom>
          <a:noFill/>
          <a:ln w="12700">
            <a:solidFill>
              <a:srgbClr val="2A3A5E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3159252" y="4213555"/>
            <a:ext cx="41148" cy="683971"/>
          </a:xfrm>
          <a:prstGeom prst="roundRect">
            <a:avLst>
              <a:gd name="adj" fmla="val 44444"/>
            </a:avLst>
          </a:prstGeom>
          <a:solidFill>
            <a:srgbClr val="50A0FF"/>
          </a:solidFill>
          <a:ln/>
        </p:spPr>
      </p:sp>
      <p:sp>
        <p:nvSpPr>
          <p:cNvPr id="8" name="Shape 6"/>
          <p:cNvSpPr/>
          <p:nvPr/>
        </p:nvSpPr>
        <p:spPr>
          <a:xfrm>
            <a:off x="3159252" y="4977994"/>
            <a:ext cx="41148" cy="683971"/>
          </a:xfrm>
          <a:prstGeom prst="roundRect">
            <a:avLst>
              <a:gd name="adj" fmla="val 44444"/>
            </a:avLst>
          </a:prstGeom>
          <a:solidFill>
            <a:srgbClr val="2B6CB0"/>
          </a:solidFill>
          <a:ln/>
        </p:spPr>
      </p:sp>
      <p:sp>
        <p:nvSpPr>
          <p:cNvPr id="9" name="Shape 7"/>
          <p:cNvSpPr/>
          <p:nvPr/>
        </p:nvSpPr>
        <p:spPr>
          <a:xfrm>
            <a:off x="8961120" y="4213555"/>
            <a:ext cx="41148" cy="683971"/>
          </a:xfrm>
          <a:prstGeom prst="roundRect">
            <a:avLst>
              <a:gd name="adj" fmla="val 44444"/>
            </a:avLst>
          </a:prstGeom>
          <a:solidFill>
            <a:srgbClr val="FF785A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0" y="4977994"/>
            <a:ext cx="41148" cy="683971"/>
          </a:xfrm>
          <a:prstGeom prst="roundRect">
            <a:avLst>
              <a:gd name="adj" fmla="val 44444"/>
            </a:avLst>
          </a:prstGeom>
          <a:solidFill>
            <a:srgbClr val="C24C38"/>
          </a:solidFill>
          <a:ln/>
        </p:spPr>
      </p:sp>
      <p:sp>
        <p:nvSpPr>
          <p:cNvPr id="11" name="Shape 9"/>
          <p:cNvSpPr/>
          <p:nvPr/>
        </p:nvSpPr>
        <p:spPr>
          <a:xfrm>
            <a:off x="5561381" y="4897526"/>
            <a:ext cx="82296" cy="8229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12" name="Text 10"/>
          <p:cNvSpPr/>
          <p:nvPr/>
        </p:nvSpPr>
        <p:spPr>
          <a:xfrm>
            <a:off x="2834640" y="598932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 + A2 (blue, left)  vs  B1 + B2 (red, right)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Results: 3 seeds, 1M steps per 2v2 run · 60-episode deterministic eval · report/report.md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0A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EXPERIMENT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Coordination without communication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949440" y="1600200"/>
            <a:ext cx="4754880" cy="2651760"/>
          </a:xfrm>
          <a:prstGeom prst="roundRect">
            <a:avLst>
              <a:gd name="adj" fmla="val 2069"/>
            </a:avLst>
          </a:prstGeom>
          <a:solidFill>
            <a:srgbClr val="111A30"/>
          </a:solidFill>
          <a:ln w="12700">
            <a:solidFill>
              <a:srgbClr val="2A3A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0" y="1709928"/>
            <a:ext cx="0" cy="2432304"/>
          </a:xfrm>
          <a:prstGeom prst="line">
            <a:avLst/>
          </a:prstGeom>
          <a:noFill/>
          <a:ln w="12700">
            <a:solidFill>
              <a:srgbClr val="2A3A5E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6949440" y="2395728"/>
            <a:ext cx="4754880" cy="1060704"/>
          </a:xfrm>
          <a:prstGeom prst="rect">
            <a:avLst/>
          </a:prstGeom>
          <a:solidFill>
            <a:srgbClr val="50A0FF">
              <a:alpha val="1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187184" y="1971446"/>
            <a:ext cx="41148" cy="901598"/>
          </a:xfrm>
          <a:prstGeom prst="roundRect">
            <a:avLst>
              <a:gd name="adj" fmla="val 44444"/>
            </a:avLst>
          </a:prstGeom>
          <a:solidFill>
            <a:srgbClr val="50A0FF"/>
          </a:solidFill>
          <a:ln/>
        </p:spPr>
      </p:sp>
      <p:sp>
        <p:nvSpPr>
          <p:cNvPr id="8" name="Shape 6"/>
          <p:cNvSpPr/>
          <p:nvPr/>
        </p:nvSpPr>
        <p:spPr>
          <a:xfrm>
            <a:off x="7187184" y="2979115"/>
            <a:ext cx="41148" cy="901598"/>
          </a:xfrm>
          <a:prstGeom prst="roundRect">
            <a:avLst>
              <a:gd name="adj" fmla="val 44444"/>
            </a:avLst>
          </a:prstGeom>
          <a:solidFill>
            <a:srgbClr val="2B6CB0"/>
          </a:solidFill>
          <a:ln/>
        </p:spPr>
      </p:sp>
      <p:sp>
        <p:nvSpPr>
          <p:cNvPr id="9" name="Shape 7"/>
          <p:cNvSpPr/>
          <p:nvPr/>
        </p:nvSpPr>
        <p:spPr>
          <a:xfrm>
            <a:off x="11425428" y="1971446"/>
            <a:ext cx="41148" cy="901598"/>
          </a:xfrm>
          <a:prstGeom prst="roundRect">
            <a:avLst>
              <a:gd name="adj" fmla="val 44444"/>
            </a:avLst>
          </a:prstGeom>
          <a:solidFill>
            <a:srgbClr val="FF785A"/>
          </a:solidFill>
          <a:ln/>
        </p:spPr>
      </p:sp>
      <p:sp>
        <p:nvSpPr>
          <p:cNvPr id="10" name="Shape 8"/>
          <p:cNvSpPr/>
          <p:nvPr/>
        </p:nvSpPr>
        <p:spPr>
          <a:xfrm>
            <a:off x="11425428" y="2979115"/>
            <a:ext cx="41148" cy="901598"/>
          </a:xfrm>
          <a:prstGeom prst="roundRect">
            <a:avLst>
              <a:gd name="adj" fmla="val 44444"/>
            </a:avLst>
          </a:prstGeom>
          <a:solidFill>
            <a:srgbClr val="C24C38"/>
          </a:solidFill>
          <a:ln/>
        </p:spPr>
      </p:sp>
      <p:sp>
        <p:nvSpPr>
          <p:cNvPr id="11" name="Shape 9"/>
          <p:cNvSpPr/>
          <p:nvPr/>
        </p:nvSpPr>
        <p:spPr>
          <a:xfrm>
            <a:off x="8946490" y="2873045"/>
            <a:ext cx="82296" cy="82296"/>
          </a:xfrm>
          <a:prstGeom prst="ellipse">
            <a:avLst/>
          </a:prstGeom>
          <a:solidFill>
            <a:srgbClr val="F2F2F2"/>
          </a:solidFill>
          <a:ln/>
        </p:spPr>
      </p:sp>
      <p:sp>
        <p:nvSpPr>
          <p:cNvPr id="12" name="Text 10"/>
          <p:cNvSpPr/>
          <p:nvPr/>
        </p:nvSpPr>
        <p:spPr>
          <a:xfrm>
            <a:off x="6949440" y="42976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71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Overlapping vertical ranges — nobody owns a region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164592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8-dim observations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7200" y="1993392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1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 paddle y/vy, ball x/y/vx/vy, teammate y/vy — opponents excluded by design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560320"/>
            <a:ext cx="603504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6974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team reward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7200" y="3044952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1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 / -1 per point, identical signal to both teammates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3611880"/>
            <a:ext cx="603504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74904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actions per paddle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57200" y="4096512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1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 / up / down, applied simultaneously every step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4663440"/>
            <a:ext cx="603504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480060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PPO ×4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57200" y="5148072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1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separate 64×64 actor-critic MLPs, CPU-only; no shared critic, no parameter sharing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0A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enough to run, honest enough to trust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2697480" cy="3017520"/>
          </a:xfrm>
          <a:prstGeom prst="roundRect">
            <a:avLst>
              <a:gd name="adj" fmla="val 2712"/>
            </a:avLst>
          </a:prstGeom>
          <a:solidFill>
            <a:srgbClr val="EEF4FE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0574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50A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685800" y="315468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PPO learners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384048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1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64×64 actor-critic MLPs, one per paddle, CPU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83280" y="1828800"/>
            <a:ext cx="2697480" cy="3017520"/>
          </a:xfrm>
          <a:prstGeom prst="roundRect">
            <a:avLst>
              <a:gd name="adj" fmla="val 2712"/>
            </a:avLst>
          </a:prstGeom>
          <a:solidFill>
            <a:srgbClr val="EEF4FE"/>
          </a:solidFill>
          <a:ln/>
        </p:spPr>
      </p:sp>
      <p:sp>
        <p:nvSpPr>
          <p:cNvPr id="9" name="Text 7"/>
          <p:cNvSpPr/>
          <p:nvPr/>
        </p:nvSpPr>
        <p:spPr>
          <a:xfrm>
            <a:off x="3611880" y="20574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50A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3611880" y="315468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seeds per condition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11880" y="384048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1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initialization every run — no warm starts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309360" y="1828800"/>
            <a:ext cx="2697480" cy="3017520"/>
          </a:xfrm>
          <a:prstGeom prst="roundRect">
            <a:avLst>
              <a:gd name="adj" fmla="val 2712"/>
            </a:avLst>
          </a:prstGeom>
          <a:solidFill>
            <a:srgbClr val="EEF4FE"/>
          </a:solidFill>
          <a:ln/>
        </p:spPr>
      </p:sp>
      <p:sp>
        <p:nvSpPr>
          <p:cNvPr id="13" name="Text 11"/>
          <p:cNvSpPr/>
          <p:nvPr/>
        </p:nvSpPr>
        <p:spPr>
          <a:xfrm>
            <a:off x="6537960" y="20574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50A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1M</a:t>
            </a:r>
            <a:endParaRPr lang="en-US" sz="6600" dirty="0"/>
          </a:p>
        </p:txBody>
      </p:sp>
      <p:sp>
        <p:nvSpPr>
          <p:cNvPr id="14" name="Text 12"/>
          <p:cNvSpPr/>
          <p:nvPr/>
        </p:nvSpPr>
        <p:spPr>
          <a:xfrm>
            <a:off x="6537960" y="315468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per 2v2 run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537960" y="384048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1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1v1 sanity baseline at 300k; all runs logged per iteration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235440" y="1828800"/>
            <a:ext cx="2697480" cy="3017520"/>
          </a:xfrm>
          <a:prstGeom prst="roundRect">
            <a:avLst>
              <a:gd name="adj" fmla="val 2712"/>
            </a:avLst>
          </a:prstGeom>
          <a:solidFill>
            <a:srgbClr val="EEF4FE"/>
          </a:solidFill>
          <a:ln/>
        </p:spPr>
      </p:sp>
      <p:sp>
        <p:nvSpPr>
          <p:cNvPr id="17" name="Text 15"/>
          <p:cNvSpPr/>
          <p:nvPr/>
        </p:nvSpPr>
        <p:spPr>
          <a:xfrm>
            <a:off x="9464040" y="20574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50A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6600" dirty="0"/>
          </a:p>
        </p:txBody>
      </p:sp>
      <p:sp>
        <p:nvSpPr>
          <p:cNvPr id="18" name="Text 16"/>
          <p:cNvSpPr/>
          <p:nvPr/>
        </p:nvSpPr>
        <p:spPr>
          <a:xfrm>
            <a:off x="9464040" y="315468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 episodes × 3 opponents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464040" y="384048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1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greedy play vs self, scripted tracker, random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7200" y="53949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in this deck comes from committed checkpoints, logs, and eval records — reproducible from the repo.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1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results/models/, results/logs/, results/eval_*.json (marl-pong repo)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0A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1 · NON-STATIONARITY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is a wave, not a trend</a:t>
            </a:r>
            <a:endParaRPr lang="en-US" sz="3200" dirty="0"/>
          </a:p>
        </p:txBody>
      </p:sp>
      <p:pic>
        <p:nvPicPr>
          <p:cNvPr id="4" name="Image 0" descr="results/plots/curves_2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00200"/>
            <a:ext cx="6309360" cy="360273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2578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1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Self-play team A return, smoothed — one curve per seed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223760" y="17373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Oscillation, not convergence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223760" y="256032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Dominance swings in ~300k-step waves — each team's improvement is the other's environment change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three seeds decline together after ~800k steps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team leads at 1M is a coin flip: seed 1 → A, seeds 0/2 → B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223760" y="48463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0A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“The opponent is the environment.”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1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results/logs/2v2_seed{0,1,2}_1M.csv — per-iteration returns, 51-iter rolling mean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0A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2 · SKILL CALIBRATION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Beats random, loses to a hand-written tracker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6459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863840" y="1920240"/>
            <a:ext cx="3840480" cy="1554480"/>
          </a:xfrm>
          <a:prstGeom prst="roundRect">
            <a:avLst>
              <a:gd name="adj" fmla="val 4706"/>
            </a:avLst>
          </a:prstGeom>
          <a:solidFill>
            <a:srgbClr val="EEF4FE"/>
          </a:solidFill>
          <a:ln/>
        </p:spPr>
      </p:sp>
      <p:sp>
        <p:nvSpPr>
          <p:cNvPr id="6" name="Text 3"/>
          <p:cNvSpPr/>
          <p:nvPr/>
        </p:nvSpPr>
        <p:spPr>
          <a:xfrm>
            <a:off x="8092440" y="20574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0A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±0.27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092440" y="269748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spread on the 0.68 win rate vs random — real skill, fragile across seeds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863840" y="3749040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scripted ball tracker wins ~99% against every trained team. PPO-learned play is qualitatively behind hand-written defense at this budget.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1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results/summary.md — 3 seeds, 60 greedy episodes per run per opponent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0A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3 · COORDINATION EVIDENCE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Positional roles emerge — nobody assigned them</a:t>
            </a:r>
            <a:endParaRPr lang="en-US" sz="3200" dirty="0"/>
          </a:p>
        </p:txBody>
      </p:sp>
      <p:pic>
        <p:nvPicPr>
          <p:cNvPr id="4" name="Image 0" descr="results/plots/coverage_heatmaps_seed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1828800"/>
            <a:ext cx="10058400" cy="3291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69848" y="5212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671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Paddle y-position over normalized episode time, seed 0: each paddle holds a home band plus chase excursions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554480" y="562356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 anchors mid-upper, A2 mid-lower with excursions to the top wall — the mirror structure appears on team B. No communication, no role assignment.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1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results/traj_2v2_seed0_1M.npz — 20 greedy self-play episodes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0A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3 · CONTINUED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Specialization is real — and not what we predicted</a:t>
            </a:r>
            <a:endParaRPr lang="en-US" sz="3200" dirty="0"/>
          </a:p>
        </p:txBody>
      </p:sp>
      <p:pic>
        <p:nvPicPr>
          <p:cNvPr id="4" name="Image 0" descr="results/plots/overlap_over_trai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91640"/>
            <a:ext cx="6309360" cy="360273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34924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1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Teammate coverage overlap at checkpoints (lower = more specialized)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7223760" y="1783080"/>
            <a:ext cx="4572000" cy="1600200"/>
          </a:xfrm>
          <a:prstGeom prst="roundRect">
            <a:avLst>
              <a:gd name="adj" fmla="val 4571"/>
            </a:avLst>
          </a:prstGeom>
          <a:solidFill>
            <a:srgbClr val="EEF4FE"/>
          </a:solidFill>
          <a:ln/>
        </p:spPr>
      </p:sp>
      <p:sp>
        <p:nvSpPr>
          <p:cNvPr id="7" name="Text 4"/>
          <p:cNvSpPr/>
          <p:nvPr/>
        </p:nvSpPr>
        <p:spPr>
          <a:xfrm>
            <a:off x="7452360" y="1920240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0A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0.01</a:t>
            </a:r>
            <a:endParaRPr lang="en-US" sz="4000" dirty="0"/>
          </a:p>
          <a:p>
            <a:pPr indent="0" marL="0">
              <a:buNone/>
            </a:pPr>
            <a:r>
              <a:rPr lang="en-US" sz="1300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overlap in seed 1 — a near-disjoint band partition, and the strongest team (0.67 win rate)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223760" y="3657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Overlap rises over training in all seeds — early policies barely move; later ones chase hard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complementary roles mean distinct anchors with shared pursuit, not disjoint coverage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3: the specialization-success link is suggestive, not causal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1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overlap sweep over iter_*.pt checkpoints, 4 short greedy probes each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0A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4 · CREDIT ASSIGNMENT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team dominates is a seed lottery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6459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863840" y="19202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Asymmetry entrenches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7863840" y="2468880"/>
            <a:ext cx="3840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reward cannot attribute a point to a paddle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Whichever team stumbles into a better joint equilibrium early keeps it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182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setup, same budget — opposite winners. That variance is the credit-assignment caveat made visible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1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results/eval_2v2_seed{0,1,2}_1M.json — self-play, 60 episodes each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50A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VERDICT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1274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E8EE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 yes.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F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Complementary positional roles emerge without communication or role assignment — but coordination is a seed lottery, it does not grow monotonically, and win rate alone would have overstated it. Beating random requires zero coordination; the heatmaps are the evidence.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46634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0A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Emerges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507492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distinct home bands in every seed, from identical rewards and local views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297680" y="46634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0A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Varies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297680" y="507492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overlap spans 0.01 - 0.28 across seeds at eval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138160" y="46634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0A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Correlates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138160" y="507492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best-partitioned seed is also the strongest team (0.67 win rate)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82296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50A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 &amp; NEXT STEPS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23444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EE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evidence cannot yet claim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468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E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seeds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840480" y="2468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specialization-success correlation needs more runs to be more than suggestive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3383280"/>
            <a:ext cx="11274552" cy="0"/>
          </a:xfrm>
          <a:prstGeom prst="line">
            <a:avLst/>
          </a:prstGeom>
          <a:noFill/>
          <a:ln w="9525">
            <a:solidFill>
              <a:srgbClr val="2A3A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520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E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Unswept overlap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840480" y="352044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paddle overlap stayed at its 0.4 default — the frozen-before-training sweep was never run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4434840"/>
            <a:ext cx="11274552" cy="0"/>
          </a:xfrm>
          <a:prstGeom prst="line">
            <a:avLst/>
          </a:prstGeom>
          <a:noFill/>
          <a:ln w="9525">
            <a:solidFill>
              <a:srgbClr val="2A3A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45720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E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frozen-opponent run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840480" y="45720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improvement and opponent drift remain entangled — the one experiment that would disentangle them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" y="61264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Repo: marl-pong — checkpoints, logs, eval records, analysis code, and report/report.md are all committed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Emergent Coordination in 2v2 Pong via Independent PPO</dc:title>
  <dc:subject>PptxGenJS Presentation</dc:subject>
  <dc:creator>Aryan Mehesare</dc:creator>
  <cp:lastModifiedBy>Aryan Mehesare</cp:lastModifiedBy>
  <cp:revision>1</cp:revision>
  <dcterms:created xsi:type="dcterms:W3CDTF">2026-09-10T15:36:23Z</dcterms:created>
  <dcterms:modified xsi:type="dcterms:W3CDTF">2026-09-10T15:36:23Z</dcterms:modified>
</cp:coreProperties>
</file>